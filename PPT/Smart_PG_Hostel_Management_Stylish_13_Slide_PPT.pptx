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5C2D"/>
                </a:solidFill>
                <a:latin typeface="Aptos"/>
              </a:defRPr>
            </a:pPr>
            <a:r>
              <a:t>WAD PBL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12345C"/>
                </a:solidFill>
                <a:latin typeface="Georgia"/>
              </a:defRPr>
            </a:pPr>
            <a: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1C1917"/>
                </a:solidFill>
                <a:latin typeface="Georgia"/>
              </a:defRPr>
            </a:pPr>
            <a:r>
              <a:t>PG / HOSTEL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50008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1C1917"/>
                </a:solidFill>
                <a:latin typeface="Georgia"/>
              </a:defRPr>
            </a:pPr>
            <a:r>
              <a:t>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218688"/>
            <a:ext cx="5257800" cy="384048"/>
          </a:xfrm>
          <a:prstGeom prst="roundRect">
            <a:avLst/>
          </a:prstGeom>
          <a:solidFill>
            <a:srgbClr val="BF5C2D"/>
          </a:solidFill>
          <a:ln w="12700">
            <a:solidFill>
              <a:srgbClr val="BF5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227832"/>
            <a:ext cx="5257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One platform for rooms • bookings • meals •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88620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66058"/>
                </a:solidFill>
                <a:latin typeface="Aptos"/>
              </a:defRPr>
            </a:pPr>
            <a:r>
              <a:t>A student-first web application with a complete admin control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94360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8961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5C2D"/>
                </a:solidFill>
                <a:latin typeface="Aptos"/>
              </a:defRPr>
            </a:pPr>
            <a:r>
              <a:t>PG / HOSTEL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29844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2345C"/>
                </a:solidFill>
                <a:latin typeface="Aptos"/>
              </a:defRPr>
            </a:pPr>
            <a:r>
              <a:t>Welcome back, 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28800"/>
            <a:ext cx="4434840" cy="82296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199339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666058"/>
                </a:solidFill>
                <a:latin typeface="Aptos"/>
              </a:defRPr>
            </a:pPr>
            <a:r>
              <a:t>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21284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12345C"/>
                </a:solidFill>
                <a:latin typeface="Aptos"/>
              </a:defRPr>
            </a:pPr>
            <a:r>
              <a:t>B-204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12345C"/>
                </a:solidFill>
                <a:latin typeface="Aptos"/>
              </a:defRPr>
            </a:pPr>
            <a:r>
              <a:t>₹ 8,000 /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971800"/>
            <a:ext cx="1325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312724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34107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5B773E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2971800"/>
            <a:ext cx="1325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2724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107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5C2D"/>
                </a:solidFill>
                <a:latin typeface="Aptos"/>
              </a:defRPr>
            </a:pPr>
            <a:r>
              <a:t>Due 10 Sep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01784" y="2971800"/>
            <a:ext cx="1325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1511" y="312724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1" y="34107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2345C"/>
                </a:solidFill>
                <a:latin typeface="Aptos"/>
              </a:defRPr>
            </a:pPr>
            <a:r>
              <a:t>Confirmed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4315968"/>
            <a:ext cx="4434840" cy="1097280"/>
          </a:xfrm>
          <a:prstGeom prst="roundRect">
            <a:avLst/>
          </a:prstGeom>
          <a:solidFill>
            <a:srgbClr val="F7E7DA"/>
          </a:solidFill>
          <a:ln w="12700">
            <a:solidFill>
              <a:srgbClr val="F7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449884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BF5C2D"/>
                </a:solidFill>
                <a:latin typeface="Aptos"/>
              </a:defRPr>
            </a:pPr>
            <a:r>
              <a:t>PAYMENT REMINDER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48006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C1917"/>
                </a:solidFill>
                <a:latin typeface="Aptos"/>
              </a:defRPr>
            </a:pPr>
            <a:r>
              <a:t>Monthly rent is due soon.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2345C"/>
                </a:solidFill>
                <a:latin typeface="Aptos"/>
              </a:defRPr>
            </a:pPr>
            <a:r>
              <a:t>React.js  •  Node.js  •  Express.js  •  MongoDB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Why do we need a smarter PG system?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The current process is fragmented for both students and administrators.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313432"/>
            <a:ext cx="384048" cy="38404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4086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1343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Scattered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697480"/>
            <a:ext cx="2606040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Room availability, student details and booking records are often maintained in separate registers, spreadsheets or chats.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35424" y="2313432"/>
            <a:ext cx="384048" cy="38404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34086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1343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Payment confusion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97480"/>
            <a:ext cx="2606040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Students can miss rent due dates, while admins spend time checking paid, pending and overdue payments.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1488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0456" y="2313432"/>
            <a:ext cx="384048" cy="384048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34086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31343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Booking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697480"/>
            <a:ext cx="2606040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Advance bookings and room allocation become difficult to track when multiple students and rooms are involved.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83480"/>
            <a:ext cx="10799064" cy="822960"/>
          </a:xfrm>
          <a:prstGeom prst="round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7550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BF5C2D"/>
                </a:solidFill>
                <a:latin typeface="Aptos"/>
              </a:defRPr>
            </a:pPr>
            <a:r>
              <a:t>THE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102352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Students need simplicity. Admins need visibility. Our platform connects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How PG / hostel management works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A typical journey involves too many manual steps.</a:t>
            </a:r>
          </a:p>
        </p:txBody>
      </p:sp>
      <p:sp>
        <p:nvSpPr>
          <p:cNvPr id="6" name="Oval 5"/>
          <p:cNvSpPr/>
          <p:nvPr/>
        </p:nvSpPr>
        <p:spPr>
          <a:xfrm>
            <a:off x="1252728" y="1965960"/>
            <a:ext cx="566928" cy="56692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10312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97180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Ask /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56432"/>
            <a:ext cx="14447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Student asks for room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34015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154679" y="1965960"/>
            <a:ext cx="566928" cy="56692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210312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69748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6624" y="297180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Chat /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3456432"/>
            <a:ext cx="14447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Details shared through calls or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34015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056632" y="1965960"/>
            <a:ext cx="566928" cy="56692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210312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269748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297180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Manual 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456432"/>
            <a:ext cx="14447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Booking recorded separately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34015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6958584" y="1965960"/>
            <a:ext cx="566928" cy="56692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8584" y="210312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269748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97180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456432"/>
            <a:ext cx="14447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Receipt / transaction checked manually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4015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8860536" y="1965960"/>
            <a:ext cx="566928" cy="56692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0536" y="210312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6" y="269748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97180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Allocation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456432"/>
            <a:ext cx="14447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Admin updates room 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34015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10762488" y="1965960"/>
            <a:ext cx="566928" cy="56692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62488" y="210312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68128" y="269748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4432" y="297180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3456432"/>
            <a:ext cx="14447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Rent dues and reminders handled manually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166360"/>
            <a:ext cx="10789920" cy="685800"/>
          </a:xfrm>
          <a:prstGeom prst="roundRect">
            <a:avLst/>
          </a:prstGeom>
          <a:solidFill>
            <a:srgbClr val="F7E7DA"/>
          </a:solidFill>
          <a:ln w="12700">
            <a:solidFill>
              <a:srgbClr val="F7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367528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BF5C2D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5285232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C1917"/>
                </a:solidFill>
                <a:latin typeface="Aptos"/>
              </a:defRPr>
            </a:pPr>
            <a:r>
              <a:t>Repeated work • delayed updates • payment mistakes • poor visibility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One platform. Complete PG journey.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A centralized application connects the student experience with admin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5740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221992"/>
            <a:ext cx="384048" cy="38404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494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21992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View rooms, rent, facilities &amp;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05740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1144" y="2221992"/>
            <a:ext cx="384048" cy="38404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2494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221992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606040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Current booking or future advance booking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205740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84463" y="2221992"/>
            <a:ext cx="384048" cy="384048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22494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221992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606040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See room allocation, menu &amp;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65760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822191"/>
            <a:ext cx="384048" cy="38404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96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22191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Track rent, deposits, dues &amp; transactions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365760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81144" y="3822191"/>
            <a:ext cx="384048" cy="38404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8496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822191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206240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Admin controls rooms, students &amp; bookings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1" y="365760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84463" y="3822191"/>
            <a:ext cx="384048" cy="384048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3" y="384962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822191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206240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Occupancy, revenue &amp; transaction insights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486400"/>
            <a:ext cx="10744200" cy="530352"/>
          </a:xfrm>
          <a:prstGeom prst="roundRect">
            <a:avLst/>
          </a:prstGeom>
          <a:solidFill>
            <a:srgbClr val="12345C"/>
          </a:solidFill>
          <a:ln w="12700">
            <a:solidFill>
              <a:srgbClr val="12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614416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Everything in one connected workflow — fewer manual steps, better visibility.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Everything a resident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A clean student dashboard keeps the most important actions one click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8803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2345C"/>
                </a:solidFill>
                <a:latin typeface="Aptos"/>
              </a:defRPr>
            </a:pPr>
            <a:r>
              <a:t>STUDENT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2423160" cy="329184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2345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449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My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3814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Find a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31335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Food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177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109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0410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Complaints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1993392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50791" y="2157984"/>
            <a:ext cx="384048" cy="38404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0791" y="218541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157984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Room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54203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Compare available rooms, rent, capacity and facilities.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993392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54112" y="2157984"/>
            <a:ext cx="384048" cy="38404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18541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157984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Booking &amp; advance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54203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Reserve a current or future room with a clear booking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3319272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50791" y="3483864"/>
            <a:ext cx="384048" cy="38404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0791" y="351129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483864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Food menu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386791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View the daily / weekly menu without asking management.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319272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54112" y="3483864"/>
            <a:ext cx="384048" cy="38404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4112" y="351129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483864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86791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See rent, deposit, paid amount, pending amount and transaction history.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86200" y="4645152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50791" y="4809744"/>
            <a:ext cx="384048" cy="38404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50791" y="483717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568" y="4809744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Reminders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568" y="519379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Get timely notifications before payment due dates.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645152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54112" y="4809744"/>
            <a:ext cx="384048" cy="38404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54112" y="483717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4809744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Requests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519379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Raise maintenance or service complaints and track their status.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Never miss a payment due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The system turns rent tracking into a simple, visible timeline.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840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BF5C2D"/>
                </a:solidFill>
                <a:latin typeface="Aptos"/>
              </a:defRPr>
            </a:pPr>
            <a:r>
              <a:t>MY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12345C"/>
                </a:solidFill>
                <a:latin typeface="Georgia"/>
              </a:defRPr>
            </a:pPr>
            <a:r>
              <a:t>₹ 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66058"/>
                </a:solidFill>
                <a:latin typeface="Aptos"/>
              </a:defRPr>
            </a:pPr>
            <a:r>
              <a:t>Monthly 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67328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666058"/>
                </a:solidFill>
                <a:latin typeface="Aptos"/>
              </a:defRPr>
            </a:pPr>
            <a:r>
              <a:t>Last 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76732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01 Aug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4281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666058"/>
                </a:solidFill>
                <a:latin typeface="Aptos"/>
              </a:defRPr>
            </a:pPr>
            <a:r>
              <a:t>Next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242816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10 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1830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666058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718304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BF5C2D"/>
                </a:solidFill>
                <a:latin typeface="Aptos"/>
              </a:defRPr>
            </a:pPr>
            <a:r>
              <a:t>UPCOMING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1965960"/>
            <a:ext cx="6583680" cy="1234440"/>
          </a:xfrm>
          <a:prstGeom prst="roundRect">
            <a:avLst/>
          </a:prstGeom>
          <a:solidFill>
            <a:srgbClr val="F7E7DA"/>
          </a:solidFill>
          <a:ln w="12700">
            <a:solidFill>
              <a:srgbClr val="F7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21284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BF5C2D"/>
                </a:solidFill>
                <a:latin typeface="Aptos"/>
              </a:defRPr>
            </a:pPr>
            <a:r>
              <a:t>PAYMENT REMINDER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C1917"/>
                </a:solidFill>
                <a:latin typeface="Aptos"/>
              </a:defRPr>
            </a:pPr>
            <a:r>
              <a:t>Your monthly rent is due in 5 days.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350008"/>
            <a:ext cx="1325880" cy="384048"/>
          </a:xfrm>
          <a:prstGeom prst="roundRect">
            <a:avLst/>
          </a:prstGeom>
          <a:solidFill>
            <a:srgbClr val="BF5C2D"/>
          </a:solidFill>
          <a:ln w="12700">
            <a:solidFill>
              <a:srgbClr val="BF5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359151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VIEW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354787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TRANSACTION TIMELINE</a:t>
            </a:r>
          </a:p>
        </p:txBody>
      </p:sp>
      <p:sp>
        <p:nvSpPr>
          <p:cNvPr id="22" name="Oval 21"/>
          <p:cNvSpPr/>
          <p:nvPr/>
        </p:nvSpPr>
        <p:spPr>
          <a:xfrm>
            <a:off x="4983480" y="3977639"/>
            <a:ext cx="201168" cy="201168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959352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01 Aug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5935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C1917"/>
                </a:solidFill>
                <a:latin typeface="Aptos"/>
              </a:defRPr>
            </a:pPr>
            <a:r>
              <a:t>Monthly 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959352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1C1917"/>
                </a:solidFill>
                <a:latin typeface="Aptos"/>
              </a:defRPr>
            </a:pPr>
            <a:r>
              <a:t>₹8,000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959352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 i="0">
                <a:solidFill>
                  <a:srgbClr val="5B773E"/>
                </a:solidFill>
                <a:latin typeface="Aptos"/>
              </a:defRPr>
            </a:pPr>
            <a:r>
              <a:t>PAID</a:t>
            </a:r>
          </a:p>
        </p:txBody>
      </p:sp>
      <p:sp>
        <p:nvSpPr>
          <p:cNvPr id="27" name="Oval 26"/>
          <p:cNvSpPr/>
          <p:nvPr/>
        </p:nvSpPr>
        <p:spPr>
          <a:xfrm>
            <a:off x="4983480" y="4498848"/>
            <a:ext cx="201168" cy="201168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4480560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10 Aug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80560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C1917"/>
                </a:solidFill>
                <a:latin typeface="Aptos"/>
              </a:defRPr>
            </a:pPr>
            <a:r>
              <a:t>Security Deposit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480560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1C1917"/>
                </a:solidFill>
                <a:latin typeface="Aptos"/>
              </a:defRPr>
            </a:pPr>
            <a:r>
              <a:t>₹5,000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4480560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 i="0">
                <a:solidFill>
                  <a:srgbClr val="5B773E"/>
                </a:solidFill>
                <a:latin typeface="Aptos"/>
              </a:defRPr>
            </a:pPr>
            <a:r>
              <a:t>PAID</a:t>
            </a:r>
          </a:p>
        </p:txBody>
      </p:sp>
      <p:sp>
        <p:nvSpPr>
          <p:cNvPr id="32" name="Oval 31"/>
          <p:cNvSpPr/>
          <p:nvPr/>
        </p:nvSpPr>
        <p:spPr>
          <a:xfrm>
            <a:off x="4983480" y="5020055"/>
            <a:ext cx="201168" cy="20116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5001768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10 Sep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001768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1C1917"/>
                </a:solidFill>
                <a:latin typeface="Aptos"/>
              </a:defRPr>
            </a:pPr>
            <a:r>
              <a:t>Monthly 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001768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1C1917"/>
                </a:solidFill>
                <a:latin typeface="Aptos"/>
              </a:defRPr>
            </a:pPr>
            <a:r>
              <a:t>₹8,000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5001768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 i="0">
                <a:solidFill>
                  <a:srgbClr val="BF5C2D"/>
                </a:solidFill>
                <a:latin typeface="Aptos"/>
              </a:defRPr>
            </a:pPr>
            <a:r>
              <a:t>DUE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ADMIN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A single control panel for the entire property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Admins can see who is staying where, what is booked, and what is paid.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331720" cy="1234440"/>
          </a:xfrm>
          <a:prstGeom prst="roundRect">
            <a:avLst/>
          </a:prstGeom>
          <a:solidFill>
            <a:srgbClr val="12345C"/>
          </a:solidFill>
          <a:ln w="12700">
            <a:solidFill>
              <a:srgbClr val="12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11679"/>
            <a:ext cx="20025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  <a:latin typeface="Georgia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87752"/>
            <a:ext cx="2002536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TOTAL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1874519"/>
            <a:ext cx="2331720" cy="1234440"/>
          </a:xfrm>
          <a:prstGeom prst="roundRect">
            <a:avLst/>
          </a:prstGeom>
          <a:solidFill>
            <a:srgbClr val="BF5C2D"/>
          </a:solidFill>
          <a:ln w="12700">
            <a:solidFill>
              <a:srgbClr val="BF5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2011679"/>
            <a:ext cx="20025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  <a:latin typeface="Georgia"/>
              </a:defRPr>
            </a:pPr>
            <a: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587752"/>
            <a:ext cx="2002536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TOTAL ROOMS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8424" y="1874519"/>
            <a:ext cx="2331720" cy="1234440"/>
          </a:xfrm>
          <a:prstGeom prst="roundRect">
            <a:avLst/>
          </a:prstGeom>
          <a:solidFill>
            <a:srgbClr val="5B773E"/>
          </a:solidFill>
          <a:ln w="12700">
            <a:solidFill>
              <a:srgbClr val="5B7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3016" y="2011679"/>
            <a:ext cx="20025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  <a:latin typeface="Georgia"/>
              </a:defRPr>
            </a:pPr>
            <a: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3016" y="2587752"/>
            <a:ext cx="2002536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874519"/>
            <a:ext cx="2331720" cy="1234440"/>
          </a:xfrm>
          <a:prstGeom prst="roundRect">
            <a:avLst/>
          </a:prstGeom>
          <a:solidFill>
            <a:srgbClr val="12345C"/>
          </a:solidFill>
          <a:ln w="12700">
            <a:solidFill>
              <a:srgbClr val="12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011679"/>
            <a:ext cx="20025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587752"/>
            <a:ext cx="2002536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6766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2345C"/>
                </a:solidFill>
                <a:latin typeface="Aptos"/>
              </a:defRPr>
            </a:pPr>
            <a:r>
              <a:t>ROOM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C1917"/>
                </a:solidFill>
                <a:latin typeface="Aptos"/>
              </a:defRPr>
            </a:pPr>
            <a:r>
              <a:t>B-201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06908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Rahul Shah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069080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C1917"/>
                </a:solidFill>
                <a:latin typeface="Aptos"/>
              </a:defRPr>
            </a:pPr>
            <a:r>
              <a:t>B-202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453128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Priya Patel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5312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37176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C1917"/>
                </a:solidFill>
                <a:latin typeface="Aptos"/>
              </a:defRPr>
            </a:pPr>
            <a:r>
              <a:t>B-203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837176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83717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BF5C2D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212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1C1917"/>
                </a:solidFill>
                <a:latin typeface="Aptos"/>
              </a:defRPr>
            </a:pPr>
            <a:r>
              <a:t>B-204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21224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221224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429000"/>
            <a:ext cx="3749039" cy="233172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36576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2345C"/>
                </a:solidFill>
                <a:latin typeface="Aptos"/>
              </a:defRPr>
            </a:pPr>
            <a:r>
              <a:t>QUICK ADMIN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069080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66058"/>
                </a:solidFill>
                <a:latin typeface="Aptos"/>
              </a:defRPr>
            </a:pPr>
            <a:r>
              <a:t>• Add / edit rooms</a:t>
            </a:r>
          </a:p>
          <a:p>
            <a:pPr>
              <a:spcAft>
                <a:spcPts val="500"/>
              </a:spcAft>
              <a:defRPr sz="1100">
                <a:solidFill>
                  <a:srgbClr val="666058"/>
                </a:solidFill>
                <a:latin typeface="Aptos"/>
              </a:defRPr>
            </a:pPr>
            <a:r>
              <a:t>• Approve bookings</a:t>
            </a:r>
          </a:p>
          <a:p>
            <a:pPr>
              <a:spcAft>
                <a:spcPts val="500"/>
              </a:spcAft>
              <a:defRPr sz="1100">
                <a:solidFill>
                  <a:srgbClr val="666058"/>
                </a:solidFill>
                <a:latin typeface="Aptos"/>
              </a:defRPr>
            </a:pPr>
            <a:r>
              <a:t>• View all transactions</a:t>
            </a:r>
          </a:p>
          <a:p>
            <a:pPr>
              <a:spcAft>
                <a:spcPts val="500"/>
              </a:spcAft>
              <a:defRPr sz="1100">
                <a:solidFill>
                  <a:srgbClr val="666058"/>
                </a:solidFill>
                <a:latin typeface="Aptos"/>
              </a:defRPr>
            </a:pPr>
            <a:r>
              <a:t>• Manage menu</a:t>
            </a:r>
          </a:p>
          <a:p>
            <a:pPr>
              <a:spcAft>
                <a:spcPts val="500"/>
              </a:spcAft>
              <a:defRPr sz="1100">
                <a:solidFill>
                  <a:srgbClr val="666058"/>
                </a:solidFill>
                <a:latin typeface="Aptos"/>
              </a:defRPr>
            </a:pPr>
            <a:r>
              <a:t>• Check overdue 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Current stays + future reservations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Advance booking gives students certainty while giving admins better planning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257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212848"/>
            <a:ext cx="1691640" cy="384048"/>
          </a:xfrm>
          <a:prstGeom prst="roundRect">
            <a:avLst/>
          </a:prstGeom>
          <a:solidFill>
            <a:srgbClr val="12345C"/>
          </a:solidFill>
          <a:ln w="12700">
            <a:solidFill>
              <a:srgbClr val="12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21991"/>
            <a:ext cx="1691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CURRENT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2345C"/>
                </a:solidFill>
                <a:latin typeface="Aptos"/>
              </a:defRPr>
            </a:pPr>
            <a:r>
              <a:t>A-101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7889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Student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8892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01 Sep → 30 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02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2345C"/>
                </a:solidFill>
                <a:latin typeface="Aptos"/>
              </a:defRPr>
            </a:pPr>
            <a:r>
              <a:t>A-102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50215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Student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0215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05 Sep → 05 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15383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2345C"/>
                </a:solidFill>
                <a:latin typeface="Aptos"/>
              </a:defRPr>
            </a:pPr>
            <a:r>
              <a:t>B-204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215383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Student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15383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10 Sep → 10 Oct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12080" cy="3611880"/>
          </a:xfrm>
          <a:prstGeom prst="roundRect">
            <a:avLst/>
          </a:prstGeom>
          <a:solidFill>
            <a:srgbClr val="F7E7DA"/>
          </a:solidFill>
          <a:ln w="12700">
            <a:solidFill>
              <a:srgbClr val="F7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2212848"/>
            <a:ext cx="1783080" cy="384048"/>
          </a:xfrm>
          <a:prstGeom prst="roundRect">
            <a:avLst/>
          </a:prstGeom>
          <a:solidFill>
            <a:srgbClr val="BF5C2D"/>
          </a:solidFill>
          <a:ln w="12700">
            <a:solidFill>
              <a:srgbClr val="BF5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219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ADVANCE 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C-301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7889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Student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88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Move-in: 20 Oct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02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C-302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50215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Student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021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Move-in: 01 Nov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15383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C-304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215383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Student 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215383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Move-in: 15 Nov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806440"/>
            <a:ext cx="10789920" cy="438912"/>
          </a:xfrm>
          <a:prstGeom prst="round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9788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ADMIN VIEW: booking status • advance amount • move-in date • room allocation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FOOD &amp;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A simple menu for every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Students can check the menu; admins can update it centrally.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1325880" cy="530352"/>
          </a:xfrm>
          <a:prstGeom prst="roundRect">
            <a:avLst/>
          </a:prstGeom>
          <a:solidFill>
            <a:srgbClr val="BF5C2D"/>
          </a:solidFill>
          <a:ln w="12700">
            <a:solidFill>
              <a:srgbClr val="BF5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579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9424" y="2011680"/>
            <a:ext cx="1325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9424" y="21579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TUE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5" y="2011680"/>
            <a:ext cx="1325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21579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8" y="2011680"/>
            <a:ext cx="1325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21579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THU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011680"/>
            <a:ext cx="1325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1579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2011680"/>
            <a:ext cx="1325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1579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SAT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30384" y="2011680"/>
            <a:ext cx="1325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0384" y="21579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SUN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788920"/>
            <a:ext cx="7498079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0906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BF5C2D"/>
                </a:solidFill>
                <a:latin typeface="Aptos"/>
              </a:defRPr>
            </a:pPr>
            <a:r>
              <a:t>BREAKFAST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0906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Poha • Tea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7530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BF5C2D"/>
                </a:solidFill>
                <a:latin typeface="Aptos"/>
              </a:defRPr>
            </a:pPr>
            <a:r>
              <a:t>LUNCH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75304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Dal • Rice • Roti • Sabzi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059935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BF5C2D"/>
                </a:solidFill>
                <a:latin typeface="Aptos"/>
              </a:defRPr>
            </a:pPr>
            <a:r>
              <a:t>SNACKS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059935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Samosa • Tea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44568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BF5C2D"/>
                </a:solidFill>
                <a:latin typeface="Aptos"/>
              </a:defRPr>
            </a:pPr>
            <a:r>
              <a:t>DINNER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54456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1C1917"/>
                </a:solidFill>
                <a:latin typeface="Aptos"/>
              </a:defRPr>
            </a:pPr>
            <a:r>
              <a:t>Paneer • Roti • Rice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2788920"/>
            <a:ext cx="2971800" cy="2423160"/>
          </a:xfrm>
          <a:prstGeom prst="roundRect">
            <a:avLst/>
          </a:prstGeom>
          <a:solidFill>
            <a:srgbClr val="E9F0E2"/>
          </a:solidFill>
          <a:ln w="12700">
            <a:solidFill>
              <a:srgbClr val="E9F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1089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ptos"/>
              </a:defRPr>
            </a:pPr>
            <a:r>
              <a:t>• Add menu</a:t>
            </a:r>
          </a:p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ptos"/>
              </a:defRPr>
            </a:pPr>
            <a:r>
              <a:t>• Edit menu</a:t>
            </a:r>
          </a:p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ptos"/>
              </a:defRPr>
            </a:pPr>
            <a:r>
              <a:t>• Set day-wise meals</a:t>
            </a:r>
          </a:p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ptos"/>
              </a:defRPr>
            </a:pPr>
            <a:r>
              <a:t>• Publish 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From login to a completed stay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Two roles, one connected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234440" cy="384048"/>
          </a:xfrm>
          <a:prstGeom prst="roundRect">
            <a:avLst/>
          </a:prstGeom>
          <a:solidFill>
            <a:srgbClr val="12345C"/>
          </a:solidFill>
          <a:ln w="12700">
            <a:solidFill>
              <a:srgbClr val="12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83663"/>
            <a:ext cx="1234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871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6791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27249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4871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26791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View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27249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4871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6791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Book / Advance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27249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871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6791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27249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4871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26791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Confirmation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27249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4871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26791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12345C"/>
                </a:solidFill>
                <a:latin typeface="Aptos"/>
              </a:defRPr>
            </a:pPr>
            <a:r>
              <a:t>Room + Menu + Dues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03320"/>
            <a:ext cx="1234440" cy="384048"/>
          </a:xfrm>
          <a:prstGeom prst="roundRect">
            <a:avLst/>
          </a:prstGeom>
          <a:solidFill>
            <a:srgbClr val="5B773E"/>
          </a:solidFill>
          <a:ln w="12700">
            <a:solidFill>
              <a:srgbClr val="5B7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12463"/>
            <a:ext cx="1234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3159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5079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3704" y="45537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43159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4328" y="45079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2504" y="45537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43159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45079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Rooms / Students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1304" y="45537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3159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45079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0104" y="45537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43159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0727" y="45079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18904" y="455371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BF5C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4315968"/>
            <a:ext cx="1508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9528" y="4507992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5B773E"/>
                </a:solidFill>
                <a:latin typeface="Aptos"/>
              </a:defRPr>
            </a:pPr>
            <a:r>
              <a:t>Reports / Control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486400"/>
            <a:ext cx="10744200" cy="530352"/>
          </a:xfrm>
          <a:prstGeom prst="roundRect">
            <a:avLst/>
          </a:prstGeom>
          <a:solidFill>
            <a:srgbClr val="F7E7DA"/>
          </a:solidFill>
          <a:ln w="12700">
            <a:solidFill>
              <a:srgbClr val="F7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614416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C1917"/>
                </a:solidFill>
                <a:latin typeface="Aptos"/>
              </a:defRPr>
            </a:pPr>
            <a:r>
              <a:t>Role-based access keeps each dashboard focused on the right information.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Technology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A modern MERN-style stack supports a responsive, scalable web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10332720" cy="86868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45C"/>
                </a:solidFill>
                <a:latin typeface="Aptos"/>
              </a:defRPr>
            </a:pPr>
            <a:r>
              <a:t>REACT.JS —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0574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66058"/>
                </a:solidFill>
                <a:latin typeface="Aptos"/>
              </a:defRPr>
            </a:pPr>
            <a:r>
              <a:t>Student UI • Admin dashboard • Forms • Tables • 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3063240"/>
            <a:ext cx="9144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2461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45C"/>
                </a:solidFill>
                <a:latin typeface="Aptos"/>
              </a:defRPr>
            </a:pPr>
            <a:r>
              <a:t>NODE.JS + EXPRESS.JS —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2461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66058"/>
                </a:solidFill>
                <a:latin typeface="Aptos"/>
              </a:defRPr>
            </a:pPr>
            <a:r>
              <a:t>REST APIs • Business logic • Authentication •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4251960"/>
            <a:ext cx="7863840" cy="868680"/>
          </a:xfrm>
          <a:prstGeom prst="roundRect">
            <a:avLst/>
          </a:prstGeom>
          <a:solidFill>
            <a:srgbClr val="E9F0E2"/>
          </a:solidFill>
          <a:ln w="12700">
            <a:solidFill>
              <a:srgbClr val="E9F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44348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5B773E"/>
                </a:solidFill>
                <a:latin typeface="Aptos"/>
              </a:defRPr>
            </a:pPr>
            <a:r>
              <a:t>MONGODB —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4348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66058"/>
                </a:solidFill>
                <a:latin typeface="Aptos"/>
              </a:defRPr>
            </a:pPr>
            <a:r>
              <a:t>Students • Rooms • Bookings • Payments • Menus •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532120"/>
            <a:ext cx="1783080" cy="384048"/>
          </a:xfrm>
          <a:prstGeom prst="roundRect">
            <a:avLst/>
          </a:prstGeom>
          <a:solidFill>
            <a:srgbClr val="12345C"/>
          </a:solidFill>
          <a:ln w="12700">
            <a:solidFill>
              <a:srgbClr val="12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55412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5532120"/>
            <a:ext cx="1783080" cy="384048"/>
          </a:xfrm>
          <a:prstGeom prst="roundRect">
            <a:avLst/>
          </a:prstGeom>
          <a:solidFill>
            <a:srgbClr val="BF5C2D"/>
          </a:solidFill>
          <a:ln w="12700">
            <a:solidFill>
              <a:srgbClr val="BF5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55412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Cloudinary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532120"/>
            <a:ext cx="1783080" cy="384048"/>
          </a:xfrm>
          <a:prstGeom prst="roundRect">
            <a:avLst/>
          </a:prstGeom>
          <a:solidFill>
            <a:srgbClr val="5B773E"/>
          </a:solidFill>
          <a:ln w="12700">
            <a:solidFill>
              <a:srgbClr val="5B7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5412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Chart.js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5532120"/>
            <a:ext cx="1783080" cy="384048"/>
          </a:xfrm>
          <a:prstGeom prst="roundRect">
            <a:avLst/>
          </a:prstGeom>
          <a:solidFill>
            <a:srgbClr val="12345C"/>
          </a:solidFill>
          <a:ln w="12700">
            <a:solidFill>
              <a:srgbClr val="12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55412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2345C"/>
                </a:solidFill>
                <a:latin typeface="Georgia"/>
              </a:defRPr>
            </a:pPr>
            <a:r>
              <a:t>What MongoDB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05840" cy="41148"/>
          </a:xfrm>
          <a:prstGeom prst="rect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66058"/>
                </a:solidFill>
                <a:latin typeface="Aptos"/>
              </a:defRPr>
            </a:pPr>
            <a:r>
              <a:t>Collections are organized around the real-world entities in the PG / hostel.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93392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194560"/>
            <a:ext cx="438912" cy="438912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22576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19456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523744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Login +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993392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194560"/>
            <a:ext cx="438912" cy="438912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22576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219456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2523744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Profile + room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993392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194560"/>
            <a:ext cx="438912" cy="438912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22576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219456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rooms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523744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Capacity + 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1993392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34856" y="2194560"/>
            <a:ext cx="438912" cy="438912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2322576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19456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523744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Current + advance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4747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" y="3675888"/>
            <a:ext cx="438912" cy="438912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803904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7" y="367588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400507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Rent + deposit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34747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11880" y="3675888"/>
            <a:ext cx="438912" cy="438912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803904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7096" y="367588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97096" y="400507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Payment 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34747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73368" y="3675888"/>
            <a:ext cx="438912" cy="438912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803904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8584" y="367588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menus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8584" y="400507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Day-wise food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70264" y="347472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34856" y="3675888"/>
            <a:ext cx="438912" cy="438912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34856" y="3803904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0072" y="367588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2345C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0072" y="400507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6058"/>
                </a:solidFill>
                <a:latin typeface="Aptos"/>
              </a:defRPr>
            </a:pPr>
            <a:r>
              <a:t>Due reminders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303520"/>
            <a:ext cx="10789920" cy="566928"/>
          </a:xfrm>
          <a:prstGeom prst="round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49824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Student → Booking → Room → Payment → Transaction → Notification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BF5C2D"/>
                </a:solidFill>
                <a:latin typeface="Aptos"/>
              </a:defRPr>
            </a:pPr>
            <a:r>
              <a:t>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5895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 i="0">
                <a:solidFill>
                  <a:srgbClr val="12345C"/>
                </a:solidFill>
                <a:latin typeface="Georgia"/>
              </a:defRPr>
            </a:pPr>
            <a:r>
              <a:t>A better stay. A smarter admin.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666058"/>
                </a:solidFill>
                <a:latin typeface="Aptos"/>
              </a:defRPr>
            </a:pPr>
            <a:r>
              <a:t>The platform digitizes the complete PG / hostel journey — from room discovery to payment tracking and administration.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496312"/>
            <a:ext cx="384048" cy="384048"/>
          </a:xfrm>
          <a:prstGeom prst="ellipse">
            <a:avLst/>
          </a:prstGeom>
          <a:solidFill>
            <a:srgbClr val="BF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52374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49631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For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880360"/>
            <a:ext cx="26060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Easy room booking, menu access, payment history and timely reminders.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33172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35424" y="2496312"/>
            <a:ext cx="384048" cy="384048"/>
          </a:xfrm>
          <a:prstGeom prst="ellipse">
            <a:avLst/>
          </a:prstGeom>
          <a:solidFill>
            <a:srgbClr val="12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52374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9631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For admins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80360"/>
            <a:ext cx="26060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Complete visibility of students, rooms, bookings, transactions and dues.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33172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0456" y="2496312"/>
            <a:ext cx="384048" cy="384048"/>
          </a:xfrm>
          <a:prstGeom prst="ellipse">
            <a:avLst/>
          </a:prstGeom>
          <a:solidFill>
            <a:srgbClr val="5B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52374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49631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45C"/>
                </a:solidFill>
                <a:latin typeface="Aptos"/>
              </a:defRPr>
            </a:pPr>
            <a:r>
              <a:t>For the 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880360"/>
            <a:ext cx="260604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66058"/>
                </a:solidFill>
                <a:latin typeface="Aptos"/>
              </a:defRPr>
            </a:pPr>
            <a:r>
              <a:t>Online payments, QR check-in, SMS / WhatsApp alerts and mobile 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9160"/>
            <a:ext cx="10789920" cy="960120"/>
          </a:xfrm>
          <a:prstGeom prst="round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5604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BF5C2D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846320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One connected platform replaces scattered PG management tasks.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12345C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0533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 i="0">
                <a:solidFill>
                  <a:srgbClr val="BF5C2D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66058"/>
                </a:solidFill>
                <a:latin typeface="Aptos"/>
              </a:defRPr>
            </a:pPr>
            <a:r>
              <a:t>SMART PG / HOSTEL MANAGEMENT SYSTEM     •    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 i="0">
                <a:solidFill>
                  <a:srgbClr val="BF5C2D"/>
                </a:solidFill>
                <a:latin typeface="Aptos"/>
              </a:defRPr>
            </a:pPr>
            <a:r>
              <a:t>WAD • PBL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